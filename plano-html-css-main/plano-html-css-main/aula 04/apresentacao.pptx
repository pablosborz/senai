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78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94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Missão 4: Estrutura e Dados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927157"/>
            <a:ext cx="1596866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416278" y="3995142"/>
            <a:ext cx="132468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 4 · HTML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80190" y="460855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 você vai aprender a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 dados técnicos de robôs em tabelas HTML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usar as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 semânticas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dão estrutura profissional a qualquer página. Prepare-se para colocar a mão na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massa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Profª Karize Viecelli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390650"/>
            <a:ext cx="297203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423898" y="1466255"/>
            <a:ext cx="26846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DE APRENDIZAGEM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192285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Contexto Real: O Banco de Dados do Robô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80190" y="3680579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 de engenharia do SENAI precisa publicar na web uma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ficha técnica completa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 robô industrial. Velocidade, carga máxima, sensores, autonomia de bateria — tudo isso precisa estar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organizado, legível e bem estruturado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que técnicos e clientes possam consultar facilmente.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75024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missão: construir essa página usando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HTML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os dados técnicos 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 semânticas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 estrutura geral. Vamos começar!</a:t>
            </a:r>
            <a:endParaRPr lang="en-US" sz="175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5194931-1F0D-FF21-35E4-46D82A2AC803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16537"/>
            <a:ext cx="1877973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29878" y="1884521"/>
            <a:ext cx="16057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333506"/>
            <a:ext cx="62467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Usar Tabelas?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3382447"/>
            <a:ext cx="6571417" cy="3030617"/>
          </a:xfrm>
          <a:prstGeom prst="roundRect">
            <a:avLst>
              <a:gd name="adj" fmla="val 5389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pt-BR" sz="2000"/>
          </a:p>
        </p:txBody>
      </p:sp>
      <p:sp>
        <p:nvSpPr>
          <p:cNvPr id="6" name="Text 4"/>
          <p:cNvSpPr/>
          <p:nvPr/>
        </p:nvSpPr>
        <p:spPr>
          <a:xfrm>
            <a:off x="857250" y="3609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❌ Sem Tabela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57250" y="4190405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Velocidade: 2m/s. Carga: 10kg. Sensores: ultrassom, infravermelho. Bateria: 8h. Peso: 45kg. Difícil de ler, não é?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3609261"/>
            <a:ext cx="29429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 Com Tabela HTML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19040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mesmos dados ficam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organizados em linhas e colunas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fáceis de comparar e escanear. Tabelas são feitas exatamente para isso: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estruturados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48318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Pense em planilhas, fichas técnicas, listas de peças — tudo isso vive em tabelas!</a:t>
            </a:r>
            <a:endParaRPr lang="en-US" sz="175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BB9BA1D-6E75-8708-D183-A04B6ABE98C3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5523" y="779264"/>
            <a:ext cx="4374833" cy="456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 Tags da Tabela HTML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275523" y="1423749"/>
            <a:ext cx="10079355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tabela bem construída usa um conjunto de tags específicas, cada uma com sua função. Conheça cada peça desse quebra-cabeça: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275523" y="1721525"/>
            <a:ext cx="10079355" cy="8764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90763" y="1736765"/>
            <a:ext cx="584240" cy="845939"/>
          </a:xfrm>
          <a:prstGeom prst="roundRect">
            <a:avLst>
              <a:gd name="adj" fmla="val 73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469475" y="2022753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69062" y="1882735"/>
            <a:ext cx="182594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69062" y="2175034"/>
            <a:ext cx="9224605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contêiner principal. Tudo que pertence à tabela fica dentro desta tag.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75523" y="2692003"/>
            <a:ext cx="10079355" cy="8764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290763" y="2707243"/>
            <a:ext cx="584240" cy="845939"/>
          </a:xfrm>
          <a:prstGeom prst="roundRect">
            <a:avLst>
              <a:gd name="adj" fmla="val 73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469475" y="2993231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69062" y="2853214"/>
            <a:ext cx="182594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69062" y="3145512"/>
            <a:ext cx="9224605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 o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cabeçalho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tabela — os títulos das colunas ficam aqui.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75523" y="3662482"/>
            <a:ext cx="10079355" cy="8764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290763" y="3677722"/>
            <a:ext cx="584240" cy="845939"/>
          </a:xfrm>
          <a:prstGeom prst="roundRect">
            <a:avLst>
              <a:gd name="adj" fmla="val 73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469475" y="3963710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969062" y="3823692"/>
            <a:ext cx="182594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69062" y="4115991"/>
            <a:ext cx="9224605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 o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tabela — onde ficam os dados reais da ficha técnica.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75523" y="4632960"/>
            <a:ext cx="10079355" cy="8764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290763" y="4648200"/>
            <a:ext cx="584240" cy="845939"/>
          </a:xfrm>
          <a:prstGeom prst="roundRect">
            <a:avLst>
              <a:gd name="adj" fmla="val 73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469475" y="4934188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969062" y="4794171"/>
            <a:ext cx="182594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69062" y="5086469"/>
            <a:ext cx="9224605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Row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cria uma linha horizontal dentro da tabela.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75523" y="5603438"/>
            <a:ext cx="10079355" cy="8764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2290763" y="5618678"/>
            <a:ext cx="584240" cy="845939"/>
          </a:xfrm>
          <a:prstGeom prst="roundRect">
            <a:avLst>
              <a:gd name="adj" fmla="val 73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469475" y="5904667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969062" y="5764649"/>
            <a:ext cx="182594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69062" y="6056948"/>
            <a:ext cx="9224605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Header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célula de título. O navegador deixa em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negrito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automaticamente.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75523" y="6573917"/>
            <a:ext cx="10079355" cy="8764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2290763" y="6589157"/>
            <a:ext cx="584240" cy="845939"/>
          </a:xfrm>
          <a:prstGeom prst="roundRect">
            <a:avLst>
              <a:gd name="adj" fmla="val 73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2469475" y="6875145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969062" y="6735127"/>
            <a:ext cx="182594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969062" y="7027426"/>
            <a:ext cx="9224605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Data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célula de dado. Aqui entram os valores da ficha técnica.</a:t>
            </a:r>
            <a:endParaRPr lang="en-US" sz="11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4367183-F077-510F-6BBE-5FE75F199AE6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4935" y="1178481"/>
            <a:ext cx="7266623" cy="451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 na Prática: Ficha Técnica do Robô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334935" y="1813203"/>
            <a:ext cx="9960531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Veja como montar a tabela com os dados do nosso robô industrial: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334935" y="2105382"/>
            <a:ext cx="9960531" cy="4370784"/>
          </a:xfrm>
          <a:prstGeom prst="roundRect">
            <a:avLst>
              <a:gd name="adj" fmla="val 138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327791" y="2105382"/>
            <a:ext cx="9974818" cy="4370784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472095" y="2213610"/>
            <a:ext cx="9686211" cy="4154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&lt;th&gt;Especificação&lt;/th&gt;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&lt;th&gt;Valor&lt;/th&gt;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&lt;td&gt;Velocidade Máxima&lt;/td&gt;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&lt;td&gt;2 m/s&lt;/td&gt;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&lt;td&gt;Carga Máxima&lt;/td&gt;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&lt;td&gt;10 kg&lt;/td&gt;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&lt;td&gt;Autonomia&lt;/td&gt;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&lt;td&gt;8 horas&lt;/td&gt;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4935" y="6579513"/>
            <a:ext cx="9960531" cy="471488"/>
          </a:xfrm>
          <a:prstGeom prst="roundRect">
            <a:avLst>
              <a:gd name="adj" fmla="val 12859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238" y="6770727"/>
            <a:ext cx="180380" cy="144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03922" y="6707386"/>
            <a:ext cx="9347240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</a:t>
            </a: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Dica: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thead e tbody não são obrigatórios, mas são boas práticas! Eles ajudam o navegador (e você) a entender a estrutura da tabela.</a:t>
            </a:r>
            <a:endParaRPr lang="en-US" sz="1100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57863B7-8FF4-6220-186A-EC7DD2969ADF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568291"/>
            <a:ext cx="242185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423898" y="1643896"/>
            <a:ext cx="21344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SEMÂNTICA DE LAYOUT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1005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São Tags Semânticas?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80190" y="385822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 semânticas são como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placas de sinalização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dentro do seu HTML. Elas dizem ao navegador — e a qualquer pessoa que leia o código —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é o papel de cada parte da página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202079"/>
            <a:ext cx="7556421" cy="145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Antes, tudo era feito com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Hoje, usamos tags com nomes que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descrevem o conteúdo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cabeçalho, navegação, conteúdo principal, rodapé. Isso melhora acessibilidade, organização e até o ranqueamento no Google!</a:t>
            </a:r>
            <a:endParaRPr lang="en-US" sz="175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5B5DF5-6F38-14D1-C9A8-4802F5DDF04B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9909"/>
            <a:ext cx="91796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 5 Tags Semânticas Essenciais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34231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342317"/>
            <a:ext cx="322457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Cabeçalho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2840355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Fica no topo da página. Contém o logo, título do site ou do robô e informações de identificação.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34231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2342317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Navegação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2840355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 os links de menu. No site do robô: links para Especificações, Sensores, Manual.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34231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2342317"/>
            <a:ext cx="330815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Conteúdo Principal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194685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coração da página. Aqui mora a tabela de dados técnicos — o conteúdo mais importante.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099923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5099923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Seção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597962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 o main em blocos temáticos: uma section para sensores, outra para motores, etc.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5099923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5099923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Rodapé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86356" y="5597962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Fica no fim da página. Contém copyright, contato da equipe ou versão do firmware do robô.</a:t>
            </a:r>
            <a:endParaRPr lang="en-US" sz="1750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B5140AA-EC2D-B31D-9C9A-1D2E31F2C71E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3012" y="1158002"/>
            <a:ext cx="6527602" cy="463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Completa: Página do Robô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193012" y="1816179"/>
            <a:ext cx="10244257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Veja como montar a página completa com semântica correta: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193012" y="2121932"/>
            <a:ext cx="10244257" cy="4348162"/>
          </a:xfrm>
          <a:prstGeom prst="roundRect">
            <a:avLst>
              <a:gd name="adj" fmla="val 143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185630" y="2121932"/>
            <a:ext cx="10259020" cy="4348162"/>
          </a:xfrm>
          <a:prstGeom prst="roundRect">
            <a:avLst>
              <a:gd name="adj" fmla="val 51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333982" y="2233255"/>
            <a:ext cx="9962317" cy="412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&lt;h1&gt;Robô Industrial - Modelo SENAI X1&lt;/h1&gt;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href="#specs"&gt;Especificações&lt;/a&gt;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href="#sensores"&gt;Sensores&lt;/a&gt;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id="specs"&gt;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&lt;h2&gt;Ficha Técnica&lt;/h2&gt;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&lt;table&gt;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&lt;!-- sua tabela aqui --&gt;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&lt;/table&gt;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&lt;p&gt;SENAI © 2024 | Versão 1.0&lt;/p&gt;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&lt;/footer&gt;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93012" y="6579394"/>
            <a:ext cx="10244257" cy="492204"/>
          </a:xfrm>
          <a:prstGeom prst="roundRect">
            <a:avLst>
              <a:gd name="adj" fmla="val 12669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364" y="6779657"/>
            <a:ext cx="185499" cy="148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75215" y="6713577"/>
            <a:ext cx="961370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</a:t>
            </a:r>
            <a:r>
              <a:rPr lang="en-US" sz="11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Perceba: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tabela fica dentro da section, que fica dentro do main. Cada tag tem seu lugar certo, como as peças de um robô montado!</a:t>
            </a:r>
            <a:endParaRPr lang="en-US" sz="1150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60E7EB0-578C-F3E4-8FA3-F20FA5B7E5AF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261" y="495419"/>
            <a:ext cx="1405057" cy="312539"/>
          </a:xfrm>
          <a:prstGeom prst="roundRect">
            <a:avLst>
              <a:gd name="adj" fmla="val 1925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242655" y="549116"/>
            <a:ext cx="119026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 GUIADA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5261" y="864513"/>
            <a:ext cx="4478179" cy="55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Sua Missão Agora!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61" y="1636395"/>
            <a:ext cx="12359878" cy="5425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31946" y="5557905"/>
            <a:ext cx="2166581" cy="334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Criar estrutura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3231946" y="5987948"/>
            <a:ext cx="2166581" cy="479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header, nav, main, section, footer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315040" y="5139767"/>
            <a:ext cx="2166582" cy="66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Testar no navegador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315040" y="5904618"/>
            <a:ext cx="2166582" cy="47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organização e legibilidade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91349" y="2205358"/>
            <a:ext cx="2166581" cy="334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Construir tabela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291349" y="2635401"/>
            <a:ext cx="2166581" cy="47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thead, tbody, tr, th, td dentro de section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135261" y="7221141"/>
            <a:ext cx="12359878" cy="512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Siga os 3 passos acima no seu editor de código. Use a ficha técnica de um robô real ou inventado pela sua equipe. Inclua pelo menos </a:t>
            </a: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linhas de dados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tabela!</a:t>
            </a:r>
            <a:endParaRPr lang="en-US" sz="140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460825B-A2E8-C78D-40DF-25ADC6758A9B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90593"/>
            <a:ext cx="5960626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Missão Concluída! 🚀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47154"/>
            <a:ext cx="23675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514624" y="3181588"/>
            <a:ext cx="1898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Tabelas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672007"/>
            <a:ext cx="18986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table, thead, tbody, tr, th, td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874562" y="2947154"/>
            <a:ext cx="23675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108996" y="3181588"/>
            <a:ext cx="1898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Semântica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08996" y="3672007"/>
            <a:ext cx="1898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header, nav, main, section, footer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468933" y="2947154"/>
            <a:ext cx="23675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1703368" y="3181588"/>
            <a:ext cx="1898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Projeto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3368" y="3672007"/>
            <a:ext cx="18986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Ficha técnica do robô no ar!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525029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aprendeu a estruturar dados técnicos com tabelas HTML e a organizar páginas com semântica profissional. Na próxima aula, vamos dar vida a essa página com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cores, fontes e estilo!</a:t>
            </a:r>
            <a:endParaRPr lang="en-US" sz="1750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075E23A-161E-2FA7-67D3-40DF19257CB8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F1FD89D-D4DF-7F31-8418-66DD342E9314}"/>
              </a:ext>
            </a:extLst>
          </p:cNvPr>
          <p:cNvSpPr txBox="1"/>
          <p:nvPr/>
        </p:nvSpPr>
        <p:spPr>
          <a:xfrm>
            <a:off x="1371600" y="880946"/>
            <a:ext cx="12500517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pt-BR"/>
            </a:defPPr>
            <a:lvl1pPr indent="0">
              <a:lnSpc>
                <a:spcPts val="3650"/>
              </a:lnSpc>
              <a:buNone/>
              <a:defRPr sz="29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defRPr>
            </a:lvl1pPr>
          </a:lstStyle>
          <a:p>
            <a:r>
              <a:rPr lang="pt-BR" sz="3600" dirty="0"/>
              <a:t>Exercício 1 — O Esqueleto do Site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276095-563C-C215-4C46-6146B56C2099}"/>
              </a:ext>
            </a:extLst>
          </p:cNvPr>
          <p:cNvSpPr txBox="1"/>
          <p:nvPr/>
        </p:nvSpPr>
        <p:spPr>
          <a:xfrm>
            <a:off x="1371600" y="1694985"/>
            <a:ext cx="11976410" cy="341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pt-BR"/>
            </a:defPPr>
            <a:lvl1pPr indent="0">
              <a:lnSpc>
                <a:spcPts val="2850"/>
              </a:lnSpc>
              <a:buNone/>
              <a:defRPr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pt-BR" sz="2000" dirty="0">
                <a:effectLst/>
              </a:rPr>
              <a:t>Crie um arquivo chamado </a:t>
            </a:r>
            <a:r>
              <a:rPr lang="pt-BR" sz="2000" b="1" dirty="0"/>
              <a:t>projeto_robotica.html</a:t>
            </a:r>
            <a:r>
              <a:rPr lang="pt-BR" sz="2000" dirty="0">
                <a:effectLst/>
              </a:rPr>
              <a:t>. </a:t>
            </a:r>
          </a:p>
          <a:p>
            <a:endParaRPr lang="pt-BR" sz="2000" dirty="0"/>
          </a:p>
          <a:p>
            <a:r>
              <a:rPr lang="pt-BR" sz="2000" dirty="0">
                <a:effectLst/>
              </a:rPr>
              <a:t>Imagine que as </a:t>
            </a:r>
            <a:r>
              <a:rPr lang="pt-BR" sz="2000" b="1" dirty="0" err="1">
                <a:effectLst/>
              </a:rPr>
              <a:t>tags</a:t>
            </a:r>
            <a:r>
              <a:rPr lang="pt-BR" sz="2000" dirty="0">
                <a:effectLst/>
              </a:rPr>
              <a:t> </a:t>
            </a:r>
            <a:r>
              <a:rPr lang="pt-BR" sz="2000" b="1" dirty="0">
                <a:effectLst/>
              </a:rPr>
              <a:t>semânticas</a:t>
            </a:r>
            <a:r>
              <a:rPr lang="pt-BR" sz="2000" dirty="0">
                <a:effectLst/>
              </a:rPr>
              <a:t> são as partes do corpo do seu robô:</a:t>
            </a:r>
          </a:p>
          <a:p>
            <a:endParaRPr lang="pt-BR" sz="2000" dirty="0">
              <a:effectLst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pt-BR" sz="2000" dirty="0"/>
              <a:t>&lt;</a:t>
            </a:r>
            <a:r>
              <a:rPr lang="pt-BR" sz="2000" b="1" dirty="0"/>
              <a:t>header</a:t>
            </a:r>
            <a:r>
              <a:rPr lang="pt-BR" sz="2000" dirty="0"/>
              <a:t>&gt;</a:t>
            </a:r>
            <a:r>
              <a:rPr lang="pt-BR" sz="2000" dirty="0">
                <a:effectLst/>
              </a:rPr>
              <a:t> (A Cabeça): Coloque o nome do seu robô dentro de um </a:t>
            </a:r>
            <a:r>
              <a:rPr lang="pt-BR" sz="2000" dirty="0"/>
              <a:t>&lt;h1&gt;</a:t>
            </a:r>
            <a:r>
              <a:rPr lang="pt-BR" sz="2000" dirty="0">
                <a:effectLst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pt-BR" sz="2000" dirty="0"/>
              <a:t>&lt;</a:t>
            </a:r>
            <a:r>
              <a:rPr lang="pt-BR" sz="2000" b="1" dirty="0" err="1"/>
              <a:t>nav</a:t>
            </a:r>
            <a:r>
              <a:rPr lang="pt-BR" sz="2000" dirty="0"/>
              <a:t>&gt;</a:t>
            </a:r>
            <a:r>
              <a:rPr lang="pt-BR" sz="2000" dirty="0">
                <a:effectLst/>
              </a:rPr>
              <a:t> (O Sistema Nervoso): Crie um menu com 3 links (Home, Peças, Contato).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pt-BR" sz="2000" dirty="0"/>
              <a:t>&lt;</a:t>
            </a:r>
            <a:r>
              <a:rPr lang="pt-BR" sz="2000" b="1" dirty="0" err="1"/>
              <a:t>main</a:t>
            </a:r>
            <a:r>
              <a:rPr lang="pt-BR" sz="2000" dirty="0"/>
              <a:t>&gt;</a:t>
            </a:r>
            <a:r>
              <a:rPr lang="pt-BR" sz="2000" dirty="0">
                <a:effectLst/>
              </a:rPr>
              <a:t> (O Tronco): Escreva um parágrafo contando qual é a missão principal do seu robô.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pt-BR" sz="2000" dirty="0"/>
              <a:t>&lt;</a:t>
            </a:r>
            <a:r>
              <a:rPr lang="pt-BR" sz="2000" b="1" dirty="0" err="1"/>
              <a:t>footer</a:t>
            </a:r>
            <a:r>
              <a:rPr lang="pt-BR" sz="2000" dirty="0"/>
              <a:t>&gt;</a:t>
            </a:r>
            <a:r>
              <a:rPr lang="pt-BR" sz="2000" dirty="0">
                <a:effectLst/>
              </a:rPr>
              <a:t> (Os Pés): Coloque uma frase de "Direitos Reservados ao Sora - 2024".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A27F81-1EC1-FE73-6227-D518B8B70273}"/>
              </a:ext>
            </a:extLst>
          </p:cNvPr>
          <p:cNvSpPr/>
          <p:nvPr/>
        </p:nvSpPr>
        <p:spPr>
          <a:xfrm>
            <a:off x="11737703" y="7452627"/>
            <a:ext cx="20989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@karizeviecelli</a:t>
            </a:r>
          </a:p>
        </p:txBody>
      </p:sp>
    </p:spTree>
    <p:extLst>
      <p:ext uri="{BB962C8B-B14F-4D97-AF65-F5344CB8AC3E}">
        <p14:creationId xmlns:p14="http://schemas.microsoft.com/office/powerpoint/2010/main" val="244580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1181</Words>
  <Application>Microsoft Office PowerPoint</Application>
  <PresentationFormat>Personalizar</PresentationFormat>
  <Paragraphs>146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Inter Bold</vt:lpstr>
      <vt:lpstr>Arial</vt:lpstr>
      <vt:lpstr>Consolas</vt:lpstr>
      <vt:lpstr>Wingdings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Karize Viecelli</cp:lastModifiedBy>
  <cp:revision>4</cp:revision>
  <dcterms:created xsi:type="dcterms:W3CDTF">2026-03-19T18:55:32Z</dcterms:created>
  <dcterms:modified xsi:type="dcterms:W3CDTF">2026-03-19T19:05:03Z</dcterms:modified>
</cp:coreProperties>
</file>