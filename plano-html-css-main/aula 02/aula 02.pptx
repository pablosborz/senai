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80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70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Missão: Conectando o Mundo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4104799"/>
            <a:ext cx="3056572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416278" y="4172783"/>
            <a:ext cx="27843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2 — LINKS E NAVEGAÇÃO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80190" y="4786193"/>
            <a:ext cx="7556421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 você vai aprender a conectar páginas da internet usando HTML! Vamos descobrir o poder da tag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criar um menu de navegação de verdade. Prepare-se para a missão!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000000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000000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Profª Karize Viecelli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245"/>
            <a:ext cx="78981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vamos aprender hoje?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26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aula segue a Metodologia SENAI: partimos de um contexto real, enfrentamos um desafio prático e praticamos juntos. Veja o roteiro da nossa missão: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536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08653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3790" y="3682960"/>
            <a:ext cx="3729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Situação de Aprendizagem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7337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por que links são essenciais para a web funcionar.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31536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508653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428548" y="3682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Conteúdo Técnico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4173379"/>
            <a:ext cx="6408063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Aprender a tag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 atributo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caminhos relativos e links externos.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30363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658683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93790" y="58329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 Prático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32340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um menu de navegação entre 3 páginas: index, sobre e contato.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530363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658683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428548" y="58329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Prática Guiada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632340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Colocar a mão na massa com apoio do professor e da turma.</a:t>
            </a:r>
            <a:endParaRPr lang="en-US" sz="17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CE12766-02FE-080F-801C-A22E960573A1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1007" y="1292066"/>
            <a:ext cx="7814786" cy="118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Situação de Aprendizagem: Por que precisamos de links?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151007" y="2717006"/>
            <a:ext cx="7814786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a internet sem links. Você abriria uma página e ficaria preso ali para sempre! Os links são como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pontes digitais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eles conectam páginas, sites e conteúdos do mundo inteiro.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51007" y="3733086"/>
            <a:ext cx="3827859" cy="1662232"/>
          </a:xfrm>
          <a:prstGeom prst="roundRect">
            <a:avLst>
              <a:gd name="adj" fmla="val 479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363653" y="3945731"/>
            <a:ext cx="2373749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🌐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 Web é uma teia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63653" y="4345424"/>
            <a:ext cx="3402568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nome "World Wide Web" significa "teia mundial" — e os links são os fios que ligam tudo.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137815" y="3733086"/>
            <a:ext cx="3827978" cy="1662232"/>
          </a:xfrm>
          <a:prstGeom prst="roundRect">
            <a:avLst>
              <a:gd name="adj" fmla="val 479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350460" y="3945731"/>
            <a:ext cx="301454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🗺️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Navegação é essencial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350460" y="4345424"/>
            <a:ext cx="3402687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links, o usuário não consegue navegar entre páginas de um mesmo site ou ir para outro site.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51007" y="5554266"/>
            <a:ext cx="7814786" cy="1383149"/>
          </a:xfrm>
          <a:prstGeom prst="roundRect">
            <a:avLst>
              <a:gd name="adj" fmla="val 576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363653" y="5766911"/>
            <a:ext cx="2663071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💡</a:t>
            </a: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Você já usa todo dia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363653" y="6166604"/>
            <a:ext cx="7389495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vez que você clica em um botão, menu ou imagem na internet, provavelmente está usando um link HTML.</a:t>
            </a:r>
            <a:endParaRPr lang="en-US" sz="145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51CE853-1FE8-A7E5-2507-12E60EDA77AE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2868"/>
            <a:ext cx="8874919" cy="724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Tag </a:t>
            </a:r>
            <a:r>
              <a:rPr lang="en-US" sz="44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A Âncora dos Links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107049"/>
            <a:ext cx="6571417" cy="5079683"/>
          </a:xfrm>
          <a:prstGeom prst="roundRect">
            <a:avLst>
              <a:gd name="adj" fmla="val 3215"/>
            </a:avLst>
          </a:prstGeom>
          <a:solidFill>
            <a:srgbClr val="1A73E8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57250" y="2333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básica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7250" y="2915007"/>
            <a:ext cx="6117788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elemento essencial para criar qualquer link em HTML é a tag </a:t>
            </a: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letra "a" vem de </a:t>
            </a:r>
            <a:r>
              <a:rPr lang="en-US" sz="175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</a:t>
            </a: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(âncora, em inglês). O atributo mais importante é o </a:t>
            </a: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define o destino do link.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57250" y="4637008"/>
            <a:ext cx="6117788" cy="1428750"/>
          </a:xfrm>
          <a:prstGeom prst="roundRect">
            <a:avLst>
              <a:gd name="adj" fmla="val 6668"/>
            </a:avLst>
          </a:prstGeom>
          <a:solidFill>
            <a:srgbClr val="278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45939" y="4637008"/>
            <a:ext cx="6140410" cy="1428750"/>
          </a:xfrm>
          <a:prstGeom prst="roundRect">
            <a:avLst>
              <a:gd name="adj" fmla="val 2381"/>
            </a:avLst>
          </a:prstGeom>
          <a:solidFill>
            <a:srgbClr val="278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72753" y="4807029"/>
            <a:ext cx="5686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href="pagina.html"&gt;</a:t>
            </a:r>
            <a:endParaRPr lang="en-US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Clique aqui!</a:t>
            </a:r>
            <a:endParaRPr lang="en-US" sz="1750" dirty="0">
              <a:solidFill>
                <a:schemeClr val="bg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2333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funciona?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99521" y="29433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684591" y="298584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336637" y="3021211"/>
            <a:ext cx="35196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Escreva a tag de abertura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36637" y="3602355"/>
            <a:ext cx="550759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href="..."&gt;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coloque o destino dentro do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599521" y="442650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4591" y="446901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8336637" y="4504373"/>
            <a:ext cx="3097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Escreva o texto do link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36637" y="5085517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texto que aparece na tela para o usuário clicar.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599521" y="59020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4591" y="59445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8336637" y="5979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Feche a tag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36637" y="6561058"/>
            <a:ext cx="550759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sempre feche a tag âncora!</a:t>
            </a:r>
            <a:endParaRPr lang="en-US" sz="17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F25E35-3EC8-EE11-6B88-B2FA2A4EBDC0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98" y="1038701"/>
            <a:ext cx="12526804" cy="62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Caminhos Relativos — Navegando na Mesma Pasta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3898" y="2023705"/>
            <a:ext cx="13222605" cy="606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suas páginas estão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mesma pasta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seu projeto, você usa um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caminho relativo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ou seja, não precisa escrever o endereço completo do site, só o nome do arquivo!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3898" y="2831306"/>
            <a:ext cx="4288631" cy="3358277"/>
          </a:xfrm>
          <a:prstGeom prst="roundRect">
            <a:avLst>
              <a:gd name="adj" fmla="val 25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2614" y="3040023"/>
            <a:ext cx="28122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📁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Estrutura do projeto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2614" y="3554968"/>
            <a:ext cx="3871198" cy="1515428"/>
          </a:xfrm>
          <a:prstGeom prst="roundRect">
            <a:avLst>
              <a:gd name="adj" fmla="val 557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02613" y="3554968"/>
            <a:ext cx="3891201" cy="1515428"/>
          </a:xfrm>
          <a:prstGeom prst="roundRect">
            <a:avLst>
              <a:gd name="adj" fmla="val 199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03709" y="3705701"/>
            <a:ext cx="3489008" cy="121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meu-site/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sobre.html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contato.html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170765" y="2831306"/>
            <a:ext cx="4288750" cy="3358277"/>
          </a:xfrm>
          <a:prstGeom prst="roundRect">
            <a:avLst>
              <a:gd name="adj" fmla="val 25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379482" y="3040023"/>
            <a:ext cx="25140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🔗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Link relativo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379482" y="3554968"/>
            <a:ext cx="3871317" cy="2425898"/>
          </a:xfrm>
          <a:prstGeom prst="roundRect">
            <a:avLst>
              <a:gd name="adj" fmla="val 34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369481" y="3554968"/>
            <a:ext cx="3891320" cy="2425898"/>
          </a:xfrm>
          <a:prstGeom prst="roundRect">
            <a:avLst>
              <a:gd name="adj" fmla="val 12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70577" y="3705701"/>
            <a:ext cx="3489127" cy="212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href="sobre.html"&gt;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Sobre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href="contato.html"&gt;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Contato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37752" y="2831306"/>
            <a:ext cx="4288631" cy="3358277"/>
          </a:xfrm>
          <a:prstGeom prst="roundRect">
            <a:avLst>
              <a:gd name="adj" fmla="val 25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846469" y="3040023"/>
            <a:ext cx="25140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Por que usar?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46469" y="3461266"/>
            <a:ext cx="3871198" cy="91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caminho relativo funciona em qualquer computador, mesmo sem internet. Perfeito para projetos locais!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3898" y="6390203"/>
            <a:ext cx="13222605" cy="800576"/>
          </a:xfrm>
          <a:prstGeom prst="roundRect">
            <a:avLst>
              <a:gd name="adj" fmla="val 10552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94" y="6686550"/>
            <a:ext cx="251341" cy="20109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57432" y="6618684"/>
            <a:ext cx="12367974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 SENAI: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Sempre salve todos os arquivos HTML do seu projeto na mesma pasta antes de criar os links!</a:t>
            </a:r>
            <a:endParaRPr lang="en-US" sz="1550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17F5AC4-EE46-4358-8CE8-289D16A2C552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16" y="1619131"/>
            <a:ext cx="7867888" cy="566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Links Externos com </a:t>
            </a:r>
            <a:r>
              <a:rPr lang="en-US" sz="35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5316" y="2396252"/>
            <a:ext cx="7893368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você quer levar o usuário para </a:t>
            </a: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outro site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(fora do seu projeto), usa o endereço completo no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 para abrir em uma </a:t>
            </a: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aba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adiciona o atributo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5316" y="3206234"/>
            <a:ext cx="223349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de código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5316" y="3643670"/>
            <a:ext cx="3728799" cy="1289923"/>
          </a:xfrm>
          <a:prstGeom prst="roundRect">
            <a:avLst>
              <a:gd name="adj" fmla="val 581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16387" y="3643670"/>
            <a:ext cx="3746659" cy="1289923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4980" y="3777615"/>
            <a:ext cx="3389471" cy="102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href="https://www.google.com"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target="_blank"&gt;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Visitar o Google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5316" y="5091827"/>
            <a:ext cx="3728799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 que é um endereço externo, fora do seu projeto.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97504" y="3206234"/>
            <a:ext cx="309395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Comparando os tipos de link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4797504" y="3643670"/>
            <a:ext cx="3728799" cy="1333857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774644" y="3643670"/>
            <a:ext cx="91440" cy="1333857"/>
          </a:xfrm>
          <a:prstGeom prst="roundRect">
            <a:avLst>
              <a:gd name="adj" fmla="val 8207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067538" y="3845123"/>
            <a:ext cx="223349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 interno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067538" y="4265057"/>
            <a:ext cx="3257312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href="sobre.html"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abre na mesma aba, mesma pasta.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97504" y="5118259"/>
            <a:ext cx="3728799" cy="1333857"/>
          </a:xfrm>
          <a:prstGeom prst="roundRect">
            <a:avLst>
              <a:gd name="adj" fmla="val 822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774644" y="5118259"/>
            <a:ext cx="91440" cy="1333857"/>
          </a:xfrm>
          <a:prstGeom prst="roundRect">
            <a:avLst>
              <a:gd name="adj" fmla="val 8207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067538" y="5319713"/>
            <a:ext cx="223349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 externo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5067538" y="5739646"/>
            <a:ext cx="3257312" cy="51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href="https://..."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abre em nova aba.</a:t>
            </a:r>
            <a:endParaRPr lang="en-US" sz="140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879263E-0C31-6B2F-BC1E-66E30A28D00E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1170384"/>
            <a:ext cx="12570143" cy="65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 Prático: Criando um Menu de Navegação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7235" y="2219682"/>
            <a:ext cx="13155930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Chegou a hora de colocar a mão na massa! Você vai criar um menu de navegação completo com 3 páginas. Veja o modelo abaixo: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7235" y="2764631"/>
            <a:ext cx="13155930" cy="1940362"/>
          </a:xfrm>
          <a:prstGeom prst="roundRect">
            <a:avLst>
              <a:gd name="adj" fmla="val 455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26758" y="2764631"/>
            <a:ext cx="13176885" cy="1940362"/>
          </a:xfrm>
          <a:prstGeom prst="roundRect">
            <a:avLst>
              <a:gd name="adj" fmla="val 162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37379" y="2922508"/>
            <a:ext cx="12755642" cy="162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href="index.html"&gt;Início&lt;/a&gt;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href="sobre.html"&gt;Sobre&lt;/a&gt;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href="contato.html"&gt;Contato&lt;/a&gt;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7235" y="4925020"/>
            <a:ext cx="4254937" cy="631865"/>
          </a:xfrm>
          <a:prstGeom prst="roundRect">
            <a:avLst>
              <a:gd name="adj" fmla="val 4800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6767" y="5083016"/>
            <a:ext cx="315873" cy="3158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7857" y="5752386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index.html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47857" y="6198632"/>
            <a:ext cx="3833693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página principal do seu site — a "porta de entrada".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187672" y="4925020"/>
            <a:ext cx="4254937" cy="631865"/>
          </a:xfrm>
          <a:prstGeom prst="roundRect">
            <a:avLst>
              <a:gd name="adj" fmla="val 4800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7204" y="5083016"/>
            <a:ext cx="315873" cy="3158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8294" y="5752386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sobre.html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5398294" y="6198632"/>
            <a:ext cx="3833693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página contando quem você é ou sobre o seu projeto.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9638109" y="4925020"/>
            <a:ext cx="4254937" cy="631865"/>
          </a:xfrm>
          <a:prstGeom prst="roundRect">
            <a:avLst>
              <a:gd name="adj" fmla="val 4800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7641" y="5083016"/>
            <a:ext cx="315873" cy="3158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8731" y="5752386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contato.html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848731" y="6198632"/>
            <a:ext cx="3833693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página com informações de como te encontrar.</a:t>
            </a:r>
            <a:endParaRPr lang="en-US" sz="165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D0345F4-53A9-F3BE-CFE6-D49880F3C4E4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098" y="640080"/>
            <a:ext cx="8712756" cy="700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Prática Guiada — Passo a Passo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5098" y="1784628"/>
            <a:ext cx="13060204" cy="36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Siga cada etapa com calma. Você consegue!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💪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121569" y="2959417"/>
            <a:ext cx="6082546" cy="224314"/>
          </a:xfrm>
          <a:prstGeom prst="roundRect">
            <a:avLst>
              <a:gd name="adj" fmla="val 42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85098" y="2735104"/>
            <a:ext cx="672941" cy="672941"/>
          </a:xfrm>
          <a:prstGeom prst="roundRect">
            <a:avLst>
              <a:gd name="adj" fmla="val 679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333" y="2903339"/>
            <a:ext cx="336471" cy="3364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9412" y="3629858"/>
            <a:ext cx="3080147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Crie a pasta do projeto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9412" y="4113371"/>
            <a:ext cx="5970508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uma pasta chamada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meu-site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seu computador.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762518" y="2622947"/>
            <a:ext cx="6082665" cy="224314"/>
          </a:xfrm>
          <a:prstGeom prst="roundRect">
            <a:avLst>
              <a:gd name="adj" fmla="val 42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426047" y="2398633"/>
            <a:ext cx="672941" cy="672941"/>
          </a:xfrm>
          <a:prstGeom prst="roundRect">
            <a:avLst>
              <a:gd name="adj" fmla="val 679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4283" y="2566868"/>
            <a:ext cx="336471" cy="3364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0361" y="3293388"/>
            <a:ext cx="334732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Crie os 3 arquivos HTML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50361" y="3776901"/>
            <a:ext cx="5970627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da pasta, crie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sobre.html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contato.html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121569" y="5497473"/>
            <a:ext cx="6082546" cy="224314"/>
          </a:xfrm>
          <a:prstGeom prst="roundRect">
            <a:avLst>
              <a:gd name="adj" fmla="val 42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85098" y="5273159"/>
            <a:ext cx="672941" cy="672941"/>
          </a:xfrm>
          <a:prstGeom prst="roundRect">
            <a:avLst>
              <a:gd name="adj" fmla="val 679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333" y="5441394"/>
            <a:ext cx="336471" cy="3364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9412" y="6167914"/>
            <a:ext cx="451199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Adicione o menu em cada página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09412" y="6651427"/>
            <a:ext cx="5970508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 o bloco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os 3 links no topo de cada arquivo HTML.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762518" y="5161002"/>
            <a:ext cx="6082665" cy="224314"/>
          </a:xfrm>
          <a:prstGeom prst="roundRect">
            <a:avLst>
              <a:gd name="adj" fmla="val 42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426047" y="4936688"/>
            <a:ext cx="672941" cy="672941"/>
          </a:xfrm>
          <a:prstGeom prst="roundRect">
            <a:avLst>
              <a:gd name="adj" fmla="val 6794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4283" y="5104924"/>
            <a:ext cx="336471" cy="33647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0361" y="5831443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Teste no navegador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650361" y="6314956"/>
            <a:ext cx="5970627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Abra o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navegador e clique nos links para navegar entre as páginas!</a:t>
            </a:r>
            <a:endParaRPr lang="en-US" sz="1750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F391BAC-27E0-79F5-913D-CBA12C53F90C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1495" y="890707"/>
            <a:ext cx="4402217" cy="474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Recapitulando a Missão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31495" y="1517809"/>
            <a:ext cx="8081010" cy="1384697"/>
          </a:xfrm>
          <a:prstGeom prst="roundRect">
            <a:avLst>
              <a:gd name="adj" fmla="val 46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690920" y="1677233"/>
            <a:ext cx="455533" cy="455533"/>
          </a:xfrm>
          <a:prstGeom prst="roundRect">
            <a:avLst>
              <a:gd name="adj" fmla="val 2007118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173" y="1802487"/>
            <a:ext cx="205026" cy="2050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4598" y="1802487"/>
            <a:ext cx="189833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Tag </a:t>
            </a:r>
            <a:r>
              <a:rPr lang="en-US" sz="20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90920" y="2540198"/>
            <a:ext cx="7762161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âncora que cria links em HTML. Sempre com o atributo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531495" y="3004185"/>
            <a:ext cx="8081010" cy="1377077"/>
          </a:xfrm>
          <a:prstGeom prst="roundRect">
            <a:avLst>
              <a:gd name="adj" fmla="val 46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690920" y="3163610"/>
            <a:ext cx="455533" cy="455533"/>
          </a:xfrm>
          <a:prstGeom prst="roundRect">
            <a:avLst>
              <a:gd name="adj" fmla="val 2007118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173" y="3288863"/>
            <a:ext cx="205026" cy="2050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71706" y="3309938"/>
            <a:ext cx="189833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Caminhos Relativos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531495" y="3852864"/>
            <a:ext cx="7762161" cy="42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apenas o nome do arquivo quando as páginas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estão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pasta.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31495" y="4482941"/>
            <a:ext cx="8081010" cy="1377077"/>
          </a:xfrm>
          <a:prstGeom prst="roundRect">
            <a:avLst>
              <a:gd name="adj" fmla="val 46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690920" y="4642366"/>
            <a:ext cx="455533" cy="455533"/>
          </a:xfrm>
          <a:prstGeom prst="roundRect">
            <a:avLst>
              <a:gd name="adj" fmla="val 2007118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6173" y="4767620"/>
            <a:ext cx="205026" cy="2050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8735" y="4767620"/>
            <a:ext cx="189833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Links Externos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90920" y="5497711"/>
            <a:ext cx="7762161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abrir em nova aba.</a:t>
            </a: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531495" y="5961698"/>
            <a:ext cx="8081010" cy="1377077"/>
          </a:xfrm>
          <a:prstGeom prst="roundRect">
            <a:avLst>
              <a:gd name="adj" fmla="val 46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690920" y="6121122"/>
            <a:ext cx="455533" cy="455533"/>
          </a:xfrm>
          <a:prstGeom prst="roundRect">
            <a:avLst>
              <a:gd name="adj" fmla="val 2007118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6173" y="6246376"/>
            <a:ext cx="205026" cy="2050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8734" y="6308526"/>
            <a:ext cx="189833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Menu de Navegação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690920" y="6976467"/>
            <a:ext cx="7762161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tag </a:t>
            </a:r>
            <a:r>
              <a:rPr lang="en-US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organizar os links de navegação do site.</a:t>
            </a:r>
            <a:endParaRPr lang="en-US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D8D3D51-40F1-7E2A-F6C3-0F360E2B5D0A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0548"/>
            <a:ext cx="5880854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Missão Cumprida! 🎉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587109"/>
            <a:ext cx="6571417" cy="4111823"/>
          </a:xfrm>
          <a:prstGeom prst="roundRect">
            <a:avLst>
              <a:gd name="adj" fmla="val 3972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57250" y="28139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Você aprendeu hoje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7250" y="3395067"/>
            <a:ext cx="6117788" cy="206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criar links com a tag </a:t>
            </a: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o atributo </a:t>
            </a: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7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Diferença entre caminhos relativos e links externos</a:t>
            </a:r>
            <a:endParaRPr lang="en-US" sz="17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usar </a:t>
            </a:r>
            <a:r>
              <a:rPr lang="en-US" sz="1750" dirty="0">
                <a:solidFill>
                  <a:schemeClr val="bg1"/>
                </a:solidFill>
                <a:highlight>
                  <a:srgbClr val="2780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abrir nova aba</a:t>
            </a:r>
            <a:endParaRPr lang="en-US" sz="17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montar um menu de navegação entre 3 páginas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28139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39506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tal deixar seu menu ainda mais bonito? Na próxima aula vamos começar a estilizar suas páginas com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cores, fontes e muito mais!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9521" y="4738926"/>
            <a:ext cx="6244709" cy="1704856"/>
          </a:xfrm>
          <a:prstGeom prst="roundRect">
            <a:avLst>
              <a:gd name="adj" fmla="val 5588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083016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36637" y="5022413"/>
            <a:ext cx="5280779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 </a:t>
            </a: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extra: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Adicione um link externo no seu </a:t>
            </a: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contato.html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apontando para o perfil de uma rede social. Use </a:t>
            </a: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target="_blank"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75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502E3A9-0A5D-9054-6B6F-CF7E8483A9F1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1079</Words>
  <Application>Microsoft Office PowerPoint</Application>
  <PresentationFormat>Personalizar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Inter</vt:lpstr>
      <vt:lpstr>Inter Light</vt:lpstr>
      <vt:lpstr>Inter Bold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Karize Viecelli</cp:lastModifiedBy>
  <cp:revision>2</cp:revision>
  <dcterms:created xsi:type="dcterms:W3CDTF">2026-03-19T17:55:39Z</dcterms:created>
  <dcterms:modified xsi:type="dcterms:W3CDTF">2026-03-19T18:06:12Z</dcterms:modified>
</cp:coreProperties>
</file>