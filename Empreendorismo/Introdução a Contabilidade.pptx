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Akzidenz-Grotesk Bold" charset="1" panose="02000803050000020004"/>
      <p:regular r:id="rId17"/>
    </p:embeddedFont>
    <p:embeddedFont>
      <p:font typeface="Akzidenz-Grotesk" charset="1" panose="02000503030000020003"/>
      <p:regular r:id="rId18"/>
    </p:embeddedFont>
    <p:embeddedFont>
      <p:font typeface="Akzidenz-Grotesk Light" charset="1" panose="0200050604000002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6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4017" y="-499802"/>
            <a:ext cx="10727965" cy="10786802"/>
          </a:xfrm>
          <a:custGeom>
            <a:avLst/>
            <a:gdLst/>
            <a:ahLst/>
            <a:cxnLst/>
            <a:rect r="r" b="b" t="t" l="l"/>
            <a:pathLst>
              <a:path h="10786802" w="10727965">
                <a:moveTo>
                  <a:pt x="0" y="0"/>
                </a:moveTo>
                <a:lnTo>
                  <a:pt x="10727966" y="0"/>
                </a:lnTo>
                <a:lnTo>
                  <a:pt x="10727966" y="10786802"/>
                </a:lnTo>
                <a:lnTo>
                  <a:pt x="0" y="1078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32723">
            <a:off x="-1099169" y="9043429"/>
            <a:ext cx="3130270" cy="2487141"/>
          </a:xfrm>
          <a:custGeom>
            <a:avLst/>
            <a:gdLst/>
            <a:ahLst/>
            <a:cxnLst/>
            <a:rect r="r" b="b" t="t" l="l"/>
            <a:pathLst>
              <a:path h="2487141" w="3130270">
                <a:moveTo>
                  <a:pt x="0" y="0"/>
                </a:moveTo>
                <a:lnTo>
                  <a:pt x="3130269" y="0"/>
                </a:lnTo>
                <a:lnTo>
                  <a:pt x="3130269" y="2487142"/>
                </a:lnTo>
                <a:lnTo>
                  <a:pt x="0" y="248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23035" y="-1565726"/>
            <a:ext cx="3131452" cy="3131452"/>
          </a:xfrm>
          <a:custGeom>
            <a:avLst/>
            <a:gdLst/>
            <a:ahLst/>
            <a:cxnLst/>
            <a:rect r="r" b="b" t="t" l="l"/>
            <a:pathLst>
              <a:path h="3131452" w="3131452">
                <a:moveTo>
                  <a:pt x="0" y="0"/>
                </a:moveTo>
                <a:lnTo>
                  <a:pt x="3131452" y="0"/>
                </a:lnTo>
                <a:lnTo>
                  <a:pt x="3131452" y="3131452"/>
                </a:lnTo>
                <a:lnTo>
                  <a:pt x="0" y="3131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8417" y="3460115"/>
            <a:ext cx="9479002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7ED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 à Contabilidade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16750" y="7478180"/>
            <a:ext cx="226233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7ED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Alunos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95585" y="8634730"/>
            <a:ext cx="350466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7EDE1"/>
                </a:solidFill>
                <a:latin typeface="Open Sans"/>
                <a:ea typeface="Open Sans"/>
                <a:cs typeface="Open Sans"/>
                <a:sym typeface="Open Sans"/>
              </a:rPr>
              <a:t>Enzo Benjamin Pablo Sborz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73248" y="308056"/>
            <a:ext cx="5741505" cy="49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ATIVOS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101" y="726639"/>
            <a:ext cx="16498972" cy="791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Ativo representa bens e direitos que a empresa possui e que podem gerar benefícios econômicos futuros.</a:t>
            </a: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Exemplos: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Caixa e saldo bancário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Contas a receber (clientes)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Estoques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Máquinas e equipamentos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Veículos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Imóveis</a:t>
            </a: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235056" y="1597383"/>
            <a:ext cx="7269465" cy="819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Classificação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Ativo Circulante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São ite</a:t>
            </a: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ns de curto prazo (até 12 meses):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Caixa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Bancos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Clientes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Estoques</a:t>
            </a:r>
          </a:p>
          <a:p>
            <a:pPr algn="l">
              <a:lnSpc>
                <a:spcPts val="3172"/>
              </a:lnSpc>
            </a:pP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Ativo Não Circulante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São itens de longo prazo: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Realizável a Longo Prazo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Contas a receber acima de 12 meses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Investimentos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Participações em outras empresas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Imobilizado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Bens físicos usados na operação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(máquinas, veículos, imóveis)</a:t>
            </a:r>
          </a:p>
          <a:p>
            <a:pPr algn="l">
              <a:lnSpc>
                <a:spcPts val="3172"/>
              </a:lnSpc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Intangível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Bens não físicos</a:t>
            </a:r>
          </a:p>
          <a:p>
            <a:pPr algn="l" marL="489210" indent="-244605" lvl="1">
              <a:lnSpc>
                <a:spcPts val="3172"/>
              </a:lnSpc>
              <a:buFont typeface="Arial"/>
              <a:buChar char="•"/>
            </a:pPr>
            <a:r>
              <a:rPr lang="en-US" sz="22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(marcas, patentes, softwares)</a:t>
            </a:r>
          </a:p>
          <a:p>
            <a:pPr algn="l">
              <a:lnSpc>
                <a:spcPts val="232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73248" y="308056"/>
            <a:ext cx="5741505" cy="49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PASSIVO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514" y="990600"/>
            <a:ext cx="16822956" cy="816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Passivo representa obrigações e dívidas da empresa com terceiros.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Exemplos: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Fornecedores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Empréstimos bancários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Salários a pagar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Impostos a pagar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Contas de consumo (água, luz)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Classificação: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1. Passivo Circulante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Obrigações de curto prazo (até 12 meses):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Fornecedores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Salários a pagar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Impostos a recolher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2. Passivo Não Circulante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Obrigações de longo prazo: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Financiamentos</a:t>
            </a:r>
          </a:p>
          <a:p>
            <a:pPr algn="l" marL="537591" indent="-268796" lvl="1">
              <a:lnSpc>
                <a:spcPts val="2813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Empréstimos de longo prazo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73248" y="308056"/>
            <a:ext cx="5741505" cy="49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RECEITAS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514" y="990600"/>
            <a:ext cx="16822956" cy="710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Receita é o valor que a empresa ganha através de suas atividades.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Exemplos: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Venda de mercadorias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Prestação de serviços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Juros recebidos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Aluguéis recebidos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Tipos de Receita: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Receita Operacional:</a:t>
            </a: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Vem da atividade principal da empresa: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Loja → venda de produtos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Oficina → serviços mecânicos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Receita Não Operacional:</a:t>
            </a: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Não faz parte da atividade principal: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Venda de um veículo da empresa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Rendimentos financeiros</a:t>
            </a: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73248" y="308056"/>
            <a:ext cx="5741505" cy="49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DESPESA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514" y="990600"/>
            <a:ext cx="16822956" cy="957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Despesa é o gasto necessário para manter a empresa funcionando e gerar receitas.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Exemplos: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Salários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Energia elétrica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Aluguel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Internet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Marketing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Material de escritório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Tipos de Despesa: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Receita Operacional: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elacionadas ao funcionamento da empresa:</a:t>
            </a:r>
          </a:p>
          <a:p>
            <a:pPr algn="l">
              <a:lnSpc>
                <a:spcPts val="2813"/>
              </a:lnSpc>
            </a:pP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Administrativas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Comerciais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</a:t>
            </a: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inanceiras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Despesas Não Operacionais: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Event</a:t>
            </a: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os fora da atividade principal: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Multas</a:t>
            </a:r>
          </a:p>
          <a:p>
            <a:pPr algn="l" marL="537591" indent="-268796" lvl="1">
              <a:lnSpc>
                <a:spcPts val="2813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Perdas na venda de bens</a:t>
            </a:r>
          </a:p>
          <a:p>
            <a:pPr algn="l">
              <a:lnSpc>
                <a:spcPts val="2813"/>
              </a:lnSpc>
            </a:pPr>
          </a:p>
          <a:p>
            <a:pPr algn="l">
              <a:lnSpc>
                <a:spcPts val="28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73248" y="169416"/>
            <a:ext cx="5741505" cy="49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REGIME DE CAIXA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0645" y="942975"/>
            <a:ext cx="16645358" cy="802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No regime de caixa, as receitas e despesas são reconhecidas somente no momento em que o dinheiro entra ou sai do caixa.</a:t>
            </a:r>
          </a:p>
          <a:p>
            <a:pPr algn="ctr">
              <a:lnSpc>
                <a:spcPts val="3178"/>
              </a:lnSpc>
            </a:pPr>
          </a:p>
          <a:p>
            <a:pPr algn="l">
              <a:lnSpc>
                <a:spcPts val="3178"/>
              </a:lnSpc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Importância: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Simplicidade de controle.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Útil para pequenas empresas e controle de fluxo de caixa.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Mostra claramente a disponibilidade de dinheiro real.</a:t>
            </a:r>
          </a:p>
          <a:p>
            <a:pPr algn="l">
              <a:lnSpc>
                <a:spcPts val="3178"/>
              </a:lnSpc>
            </a:pPr>
          </a:p>
          <a:p>
            <a:pPr algn="l">
              <a:lnSpc>
                <a:spcPts val="3178"/>
              </a:lnSpc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Vantagens: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Pelo fato do evento contábil ser registrado no momento do recebimento ou pagamento, através desse regime pode analisar a real situação da empresa em relação ao caixa;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É uma excelente escolha quando há necessidade de tomar decisão e curto prazo;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Paga os impostos apenas no recebimento de fato da venda ou prestação de serviço.</a:t>
            </a:r>
          </a:p>
          <a:p>
            <a:pPr algn="ctr">
              <a:lnSpc>
                <a:spcPts val="3178"/>
              </a:lnSpc>
            </a:pPr>
          </a:p>
          <a:p>
            <a:pPr algn="l">
              <a:lnSpc>
                <a:spcPts val="3178"/>
              </a:lnSpc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Desvantagens: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Nesse regime podemos prever apenas acontecimentos em curto prazo, portanto pode prejudicar o resultado operacional e ser mais difícil elaborar planejamentos;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Não é permitido para empresas enquadradas no lucro real e arbitrado.</a:t>
            </a:r>
          </a:p>
          <a:p>
            <a:pPr algn="ctr">
              <a:lnSpc>
                <a:spcPts val="3178"/>
              </a:lnSpc>
            </a:pPr>
          </a:p>
          <a:p>
            <a:pPr algn="ctr">
              <a:lnSpc>
                <a:spcPts val="3178"/>
              </a:lnSpc>
            </a:pPr>
          </a:p>
          <a:p>
            <a:pPr algn="ctr">
              <a:lnSpc>
                <a:spcPts val="317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54819" y="9731443"/>
            <a:ext cx="1003696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Fonte: https://escolacontabil.com/regime-de-caixa-e-regime-de-competencia-qual-a-diferenca/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73248" y="252600"/>
            <a:ext cx="5741505" cy="49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REGIME DE COMPETÊNCIA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4819" y="933450"/>
            <a:ext cx="16609265" cy="1003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No regime de competência, as receitas e despesas são reconhecidas no momento em que ocorrem, independentemente do pagamento.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Importância: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eflete a real situação econômica da empresa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Permite análise mais precisa de lucro/prejuízo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É o regime exigido pela contabilidade oficial e normas contábeis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Vantagens: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Consegue prever se a empresa terá lucro, ou seja, se as receitas no longo prazo cobrirão todas as despesas, assim ele irá demonstrar a rentabilidade do negócio;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Facilidade em cumprir as obrigações com o fisco, já que esse regime é o mais aceito;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Permite planejar investimentos, com as receitas disponíveis no futuro.</a:t>
            </a:r>
          </a:p>
          <a:p>
            <a:pPr algn="ctr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Desvantagens: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Pelo evento contábil ser registrado no fato gerador, ou seja, sua competência, descartando o pagamento ou recebimento, ele pode ignorar a real situação do caixa, pois no DRE pode ter receitas e despesas sem pagamento ou recebimento;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Pode também gerar um falso fluxo de caixa, já que o descumprimento da obrigação fica sujeito a ocorrer;</a:t>
            </a:r>
          </a:p>
          <a:p>
            <a:pPr algn="l" marL="489109" indent="-244555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Outra desvantagem é em relação aos tributos, pois eles precisam ser recolhidos na data de vencimento conforme sua escrituração de competência, sendo assim, independente se houve recebimento da venda ou serviço prestado a empresa irá recolher o imposto aos órgãos Governamentais.</a:t>
            </a:r>
          </a:p>
          <a:p>
            <a:pPr algn="l">
              <a:lnSpc>
                <a:spcPts val="3171"/>
              </a:lnSpc>
            </a:pPr>
          </a:p>
          <a:p>
            <a:pPr algn="ctr">
              <a:lnSpc>
                <a:spcPts val="3171"/>
              </a:lnSpc>
            </a:pPr>
          </a:p>
          <a:p>
            <a:pPr algn="ctr">
              <a:lnSpc>
                <a:spcPts val="3171"/>
              </a:lnSpc>
            </a:pPr>
          </a:p>
          <a:p>
            <a:pPr algn="ctr">
              <a:lnSpc>
                <a:spcPts val="317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54819" y="9731443"/>
            <a:ext cx="1003696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Fonte: https://escolacontabil.com/regime-de-caixa-e-regime-de-competencia-qual-a-diferenca/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19849" y="152389"/>
            <a:ext cx="6240611" cy="48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b="true" sz="2960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BALANÇO PATRIMONIAL (BP)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5213" y="709612"/>
            <a:ext cx="16609884" cy="1227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 Balanço Patrimonial é a fotografia da situação patrimonial da empresa em determinada data. Ele mostra o que a empresa possui e deve. O BP divide-se em três grandes grupos:</a:t>
            </a:r>
          </a:p>
          <a:p>
            <a:pPr algn="l">
              <a:lnSpc>
                <a:spcPts val="3178"/>
              </a:lnSpc>
            </a:pPr>
          </a:p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Ativo (bens e direitos):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Ativo Circulante (curto prazo)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Ativo Não Circulante (longo prazo)</a:t>
            </a: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Passivo (obrigações):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Passivo Circulante (curto prazo)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Passivo Não Circulante (longo prazo)</a:t>
            </a: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Patrimônio Líquido: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Capital Social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Reservas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Lucros ou Prejuízos Acumulados</a:t>
            </a: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 que analisar no Balanço Patrimonial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Liquidez: A empresa tem recursos para pagar suas dívidas?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Endividamento: Qual o nível de dívidas em relação ao patrimônio?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Composição do ativo: Os recursos estão bem distribuídos?</a:t>
            </a: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740155" y="3962908"/>
            <a:ext cx="7817333" cy="118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22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equação fundamental do Balanço Patrimonial é:</a:t>
            </a:r>
          </a:p>
          <a:p>
            <a:pPr algn="ctr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Ativo = Passivo + Patrimônio Líquido</a:t>
            </a:r>
          </a:p>
          <a:p>
            <a:pPr algn="ctr">
              <a:lnSpc>
                <a:spcPts val="317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35213" y="9712539"/>
            <a:ext cx="8931473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Fonte: https://escolasuperioresn.com.br/demonstracoes-financeiras-guia-completo/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2457979" cy="11008349"/>
            <a:chOff x="0" y="0"/>
            <a:chExt cx="647369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369" cy="2899318"/>
            </a:xfrm>
            <a:custGeom>
              <a:avLst/>
              <a:gdLst/>
              <a:ahLst/>
              <a:cxnLst/>
              <a:rect r="r" b="b" t="t" l="l"/>
              <a:pathLst>
                <a:path h="2899318" w="647369">
                  <a:moveTo>
                    <a:pt x="0" y="0"/>
                  </a:moveTo>
                  <a:lnTo>
                    <a:pt x="647369" y="0"/>
                  </a:lnTo>
                  <a:lnTo>
                    <a:pt x="647369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47369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1125" y="252600"/>
            <a:ext cx="14281245" cy="48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0"/>
              </a:lnSpc>
            </a:pPr>
            <a:r>
              <a:rPr lang="en-US" b="true" sz="2956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DEMONSTRAÇÃO DO RESULTADO DO EXERCÍCIO (DRE)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215502" y="4657984"/>
            <a:ext cx="5547408" cy="97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 À CONTABILIDADE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5213" y="640830"/>
            <a:ext cx="16693068" cy="923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DRE apresenta o resultado econômico da empresa em um período (mês, trimestre, ano), mostrando se houve lucro ou prejuízo.</a:t>
            </a: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</a:p>
          <a:p>
            <a:pPr algn="l">
              <a:lnSpc>
                <a:spcPts val="3487"/>
              </a:lnSpc>
            </a:pPr>
          </a:p>
          <a:p>
            <a:pPr algn="just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 Light"/>
                <a:ea typeface="Akzidenz-Grotesk Light"/>
                <a:cs typeface="Akzidenz-Grotesk Light"/>
                <a:sym typeface="Akzidenz-Grotesk Light"/>
              </a:rPr>
              <a:t>A partir da DRE, podemos calcular indicadores essenciais: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Margem Bruta</a:t>
            </a:r>
            <a:r>
              <a:rPr lang="en-US" sz="2491">
                <a:solidFill>
                  <a:srgbClr val="202125"/>
                </a:solidFill>
                <a:latin typeface="Akzidenz-Grotesk Light"/>
                <a:ea typeface="Akzidenz-Grotesk Light"/>
                <a:cs typeface="Akzidenz-Grotesk Light"/>
                <a:sym typeface="Akzidenz-Grotesk Light"/>
              </a:rPr>
              <a:t>: (Lucro Bruto / Receita Líquida) × 100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Margem Operacional</a:t>
            </a:r>
            <a:r>
              <a:rPr lang="en-US" sz="2491">
                <a:solidFill>
                  <a:srgbClr val="202125"/>
                </a:solidFill>
                <a:latin typeface="Akzidenz-Grotesk Light"/>
                <a:ea typeface="Akzidenz-Grotesk Light"/>
                <a:cs typeface="Akzidenz-Grotesk Light"/>
                <a:sym typeface="Akzidenz-Grotesk Light"/>
              </a:rPr>
              <a:t>: (Lucro Operacional / Receita Líquida) × 100</a:t>
            </a:r>
          </a:p>
          <a:p>
            <a:pPr algn="just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Margem Líquida</a:t>
            </a:r>
            <a:r>
              <a:rPr lang="en-US" sz="2491">
                <a:solidFill>
                  <a:srgbClr val="202125"/>
                </a:solidFill>
                <a:latin typeface="Akzidenz-Grotesk Light"/>
                <a:ea typeface="Akzidenz-Grotesk Light"/>
                <a:cs typeface="Akzidenz-Grotesk Light"/>
                <a:sym typeface="Akzidenz-Grotesk Light"/>
              </a:rPr>
              <a:t>: (Lucro Líquido / Receita Líquida) × 100</a:t>
            </a:r>
          </a:p>
          <a:p>
            <a:pPr algn="just">
              <a:lnSpc>
                <a:spcPts val="3487"/>
              </a:lnSpc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Esses percentuais</a:t>
            </a:r>
            <a:r>
              <a:rPr lang="en-US" sz="2491">
                <a:solidFill>
                  <a:srgbClr val="202125"/>
                </a:solidFill>
                <a:latin typeface="Akzidenz-Grotesk Light"/>
                <a:ea typeface="Akzidenz-Grotesk Light"/>
                <a:cs typeface="Akzidenz-Grotesk Light"/>
                <a:sym typeface="Akzidenz-Grotesk Light"/>
              </a:rPr>
              <a:t> mostram a rentabilidade em cada etapa do negócio.</a:t>
            </a:r>
          </a:p>
          <a:p>
            <a:pPr algn="just">
              <a:lnSpc>
                <a:spcPts val="3487"/>
              </a:lnSpc>
            </a:pPr>
          </a:p>
          <a:p>
            <a:pPr algn="ctr">
              <a:lnSpc>
                <a:spcPts val="34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35213" y="9711076"/>
            <a:ext cx="8931473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Fonte: https://escolasuperioresn.com.br/demonstracoes-financeiras-guia-completo/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213" y="1645939"/>
            <a:ext cx="6044654" cy="505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strutura da DRE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Receita Bruta de Vendas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(-) Deduções e Abatimentos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(=) Receita Líquida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(-) Custo das Mercadorias Vendidas (CMV)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(=) Lucro Bruto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(-) Despesas Operacionais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(=) Lucro Operacional (EBIT)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(+/-) Resultado Financeiro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(=) Lucro Antes do IR (LAIR)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(-) Impostos sobre o Lucro</a:t>
            </a:r>
          </a:p>
          <a:p>
            <a:pPr algn="l" marL="488180" indent="-244090" lvl="1">
              <a:lnSpc>
                <a:spcPts val="3165"/>
              </a:lnSpc>
              <a:buAutoNum type="arabicPeriod" startAt="1"/>
            </a:pPr>
            <a:r>
              <a:rPr lang="en-US" sz="2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(=) Lucro Líquido</a:t>
            </a:r>
          </a:p>
          <a:p>
            <a:pPr algn="ctr">
              <a:lnSpc>
                <a:spcPts val="211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DAHIuV3KCYc</dc:identifier>
  <dcterms:modified xsi:type="dcterms:W3CDTF">2011-08-01T06:04:30Z</dcterms:modified>
  <cp:revision>1</cp:revision>
  <dc:title>Introdução a Contabilidade</dc:title>
</cp:coreProperties>
</file>